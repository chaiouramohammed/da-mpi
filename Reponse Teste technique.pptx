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IOURA Mohammed" initials="CM" lastIdx="11" clrIdx="0">
    <p:extLst>
      <p:ext uri="{19B8F6BF-5375-455C-9EA6-DF929625EA0E}">
        <p15:presenceInfo xmlns:p15="http://schemas.microsoft.com/office/powerpoint/2012/main" userId="52ccaa34ab342d1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1-03T11:58:21.348" idx="1">
    <p:pos x="6879" y="1065"/>
    <p:text>L’analyse suivante se concentre sur les relations entre les données, en mobilisant des mesures de dispersion telles que l’écart-type et les ratios, ainsi que les valeurs minimale et maximale, pour situer les variables étudiées.
En examinant les taux de pauvreté, on observe un écart important entre les régions de Béni Mellal-Khénifra et Laâyoune-Sakia El Hamra.
À l’inverse, pour l’intensité de la pauvreté, les valeurs sont très proches entre ces mêmes régions.
Pour la somme des indices de pauvreté multidimensionnelle, les valeurs se situent entre 0 et 1, avec un écart  de 0,282.</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1-03T15:38:27.812" idx="3">
    <p:pos x="6834" y="1226"/>
    <p:text>Dans notre analyse comparative de l’évolution de l’indice de pauvreté multidimensionnelle MPI et du taux de pauvreté dans les années 2014 et 2024 par région, certaines régions ont connu une diminution notable du taux de pauvreté.
Les changements les plus marquants concernent les régions suivantes :
Béni Mellal-Khénifra, avec un écart remarquable de 7,45
Drâa-Tafilalet, avec un écart de 6,7
Guelmim-Oued Noun, avec un écart de 5,37
Pour le MPI, la moyenne régionale a également enregistré un changement significatif, passant d’un total de 0,043 en 2014 à 0,023 en 2024.</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1-03T16:49:38.093" idx="5">
    <p:pos x="6658" y="1618"/>
    <p:text>L’analyse vise à évaluer la répartition de la pauvreté multidimensionnelle en 2024 au niveau provincial, à travers le calcul du MPI moyen, afin d’identifier les provinces les plus touchées et de comparer leur situation à la moyenne nationale.</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1-03T18:16:48.891" idx="7">
    <p:pos x="6786" y="2002"/>
    <p:text>L’analyse de la décomposition du MPI révèle des écarts significatifs entre les dimensions. Au niveau régional, dans Laâyoune-Sakia El Hamra, l’éducation contribue de manière beaucoup plus importante au MPI (53,82) que la santé (38,57) ou les conditions de vie (7,61). Cette tendance se retrouve au niveau national, où l’éducation (48,09) dépasse largement la santé (27,48) et les conditions de vie (24,09). Ces résultats soulignent que les déficits en éducation sont le facteur le plus déterminant de la pauvreté multidimensionnelle.</p:text>
    <p:extLst>
      <p:ext uri="{C676402C-5697-4E1C-873F-D02D1690AC5C}">
        <p15:threadingInfo xmlns:p15="http://schemas.microsoft.com/office/powerpoint/2012/main" timeZoneBias="-6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1-03T19:50:27.131" idx="9">
    <p:pos x="7018" y="1594"/>
    <p:text>Dans cette analyse, nous constatons un écart important entre la variable scolarisation et les autres variables au niveau régional, la scolarisation moyenne apparaissant comme l’indicateur dominant (&gt;10), tandis que les autres variables restent en dessous de 7.
Au niveau provincial, certaines différences apparaissent : par exemple, dans la province de Khenifra, l’indicateur dominant est l’assainissement, tandis que dans la province de Ouezzane, c’est le logement qui domine. Cela montre que les priorités de privation peuvent varier significativement d’un territoire à l’autre.</p:text>
    <p:extLst>
      <p:ext uri="{C676402C-5697-4E1C-873F-D02D1690AC5C}">
        <p15:threadingInfo xmlns:p15="http://schemas.microsoft.com/office/powerpoint/2012/main" timeZoneBias="-6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6-01-03T20:40:50.350" idx="11">
    <p:pos x="10" y="10"/>
    <p:text>Au niveau régional, la scolarisation domine largement (&gt;10) par rapport aux autres variables. Le profilage provincial révèle que certaines provinces présentent des priorités spécifiques de privation : Khenifra pour l’assainissement, Ouezzane pour le logement, mettant en évidence la diversité des situations locales.</p:text>
    <p:extLst>
      <p:ext uri="{C676402C-5697-4E1C-873F-D02D1690AC5C}">
        <p15:threadingInfo xmlns:p15="http://schemas.microsoft.com/office/powerpoint/2012/main" timeZoneBias="-6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098A1-6113-AECA-5D8F-021823AE35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06BCE5-0554-04B8-1D47-1821B74E2E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3F6E5F-D19B-BD27-FDED-705428E19CE0}"/>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5" name="Footer Placeholder 4">
            <a:extLst>
              <a:ext uri="{FF2B5EF4-FFF2-40B4-BE49-F238E27FC236}">
                <a16:creationId xmlns:a16="http://schemas.microsoft.com/office/drawing/2014/main" id="{1B7BA919-6004-81D6-60C0-F70968F4E3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E21906-6628-D871-8D78-B2C275FE4BE2}"/>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3952324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2BC83-DB27-01AE-3ABB-CBD7CF3162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8273AF-E9C4-084E-CF13-21DD937FB0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6CDC8D-C8AE-A330-FE9A-133E048B3142}"/>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5" name="Footer Placeholder 4">
            <a:extLst>
              <a:ext uri="{FF2B5EF4-FFF2-40B4-BE49-F238E27FC236}">
                <a16:creationId xmlns:a16="http://schemas.microsoft.com/office/drawing/2014/main" id="{42F4A062-2974-6264-9DA5-36F066AB5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8CD9B0-DB67-5DB2-651E-6E932864FF2B}"/>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3379924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C87CD-89D9-B95E-3D04-9313601442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4B8D3E-4897-505F-7FF7-1CAFB5B99B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486150-EF51-DD8A-2A0B-6ED30191379C}"/>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5" name="Footer Placeholder 4">
            <a:extLst>
              <a:ext uri="{FF2B5EF4-FFF2-40B4-BE49-F238E27FC236}">
                <a16:creationId xmlns:a16="http://schemas.microsoft.com/office/drawing/2014/main" id="{E8CF7506-6533-1CF6-0786-A90040E6A0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8FD308-CA60-7E16-E2D4-93F3747304DB}"/>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2668527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F143B-E974-1226-934F-C3EF0F1B2B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1158FE-E04F-1589-E786-6C359531B8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EC5D64-3036-8342-4735-8562289CBA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C9C430-E40E-C771-9783-45595F59EFCC}"/>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6" name="Footer Placeholder 5">
            <a:extLst>
              <a:ext uri="{FF2B5EF4-FFF2-40B4-BE49-F238E27FC236}">
                <a16:creationId xmlns:a16="http://schemas.microsoft.com/office/drawing/2014/main" id="{3A9C19AB-9DA3-F354-9274-D47BCA62A3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BFA43F-D22B-FDF2-92E2-885C02D4345B}"/>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2475895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6D54-8714-BD9D-EC13-1B6E8F3F4D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9CCDFF-18DA-11D2-801F-75E1C3A7B8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EEA0C8-530A-45DE-18F5-55D96CBA77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1B6088-E9F2-E177-69AC-1A09A375E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48E677-4508-57AE-7CB7-17C215413B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22E6332-F1EA-80F2-5919-D3D38EAFD001}"/>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8" name="Footer Placeholder 7">
            <a:extLst>
              <a:ext uri="{FF2B5EF4-FFF2-40B4-BE49-F238E27FC236}">
                <a16:creationId xmlns:a16="http://schemas.microsoft.com/office/drawing/2014/main" id="{C8730A1C-EB0A-28A5-F249-2070AD174F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1938E1-0E49-4B2B-269A-A52B072583C7}"/>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2382035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B4C4E-AE1F-0F67-A537-91C59E9780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AFDC40-BFDD-A18B-14A3-12357D080652}"/>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4" name="Footer Placeholder 3">
            <a:extLst>
              <a:ext uri="{FF2B5EF4-FFF2-40B4-BE49-F238E27FC236}">
                <a16:creationId xmlns:a16="http://schemas.microsoft.com/office/drawing/2014/main" id="{E312C9F9-D0D7-3F81-C6F7-8E7D627865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0AD1CB-A19C-BF08-CB46-9D6D80B22A53}"/>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1814027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3D9B7-2CBB-2F6D-EBC7-87F4EFE66F53}"/>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3" name="Footer Placeholder 2">
            <a:extLst>
              <a:ext uri="{FF2B5EF4-FFF2-40B4-BE49-F238E27FC236}">
                <a16:creationId xmlns:a16="http://schemas.microsoft.com/office/drawing/2014/main" id="{368E2F4F-0429-C633-6C61-ABF7D499364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A590E0-75A7-C334-2012-01E1E70053AD}"/>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213406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EC707-7A52-5F6B-292F-C482BEB1B2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81B302-8897-7204-7A55-8FE9FBA203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020381-E151-F07B-7C8C-21831D0E5C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A717C9-6BCE-ABE2-A0CD-E07B2017DC30}"/>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6" name="Footer Placeholder 5">
            <a:extLst>
              <a:ext uri="{FF2B5EF4-FFF2-40B4-BE49-F238E27FC236}">
                <a16:creationId xmlns:a16="http://schemas.microsoft.com/office/drawing/2014/main" id="{49681B2C-DB87-BE73-CAE6-D70DBFBDD4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6246BE-AACC-E348-0F85-37F73B08AA30}"/>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601068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FFE8D-CE18-8A21-5615-DBEECE1408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097FD53-F602-2508-94F3-559828B6DA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993FAD-A99B-6F7F-9A41-A14F757AC5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DC736F-3937-AB73-5C7C-5FF9C3A2A6C0}"/>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6" name="Footer Placeholder 5">
            <a:extLst>
              <a:ext uri="{FF2B5EF4-FFF2-40B4-BE49-F238E27FC236}">
                <a16:creationId xmlns:a16="http://schemas.microsoft.com/office/drawing/2014/main" id="{26026D49-9F01-C733-58EC-B96D75242C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808DF1-F501-E6B7-3C71-6304DEAF0C43}"/>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3815558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9CD2D-BA5C-6866-9A5F-ED04B072EB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BDEE35-E653-0EA1-C82F-8F68AAD1C9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3B573B-3A91-55F5-3859-394FF9D4D2C8}"/>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5" name="Footer Placeholder 4">
            <a:extLst>
              <a:ext uri="{FF2B5EF4-FFF2-40B4-BE49-F238E27FC236}">
                <a16:creationId xmlns:a16="http://schemas.microsoft.com/office/drawing/2014/main" id="{5013AE0C-07F4-1F87-7CDA-DFD11373E0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A0BB2E-14FC-12CD-C89A-6470BC09D8A3}"/>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61035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F922B8-33CC-BE76-A55F-F87C0FEE1E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0AAAE1-6C64-B902-A7CE-0896BCA5D4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90E5D6-5755-A721-E5E5-7738C4346531}"/>
              </a:ext>
            </a:extLst>
          </p:cNvPr>
          <p:cNvSpPr>
            <a:spLocks noGrp="1"/>
          </p:cNvSpPr>
          <p:nvPr>
            <p:ph type="dt" sz="half" idx="10"/>
          </p:nvPr>
        </p:nvSpPr>
        <p:spPr/>
        <p:txBody>
          <a:bodyPr/>
          <a:lstStyle/>
          <a:p>
            <a:fld id="{5EF66C70-8E8E-48A5-866F-C96CD74F6EF7}" type="datetimeFigureOut">
              <a:rPr lang="en-US" smtClean="0"/>
              <a:t>1/3/2026</a:t>
            </a:fld>
            <a:endParaRPr lang="en-US"/>
          </a:p>
        </p:txBody>
      </p:sp>
      <p:sp>
        <p:nvSpPr>
          <p:cNvPr id="5" name="Footer Placeholder 4">
            <a:extLst>
              <a:ext uri="{FF2B5EF4-FFF2-40B4-BE49-F238E27FC236}">
                <a16:creationId xmlns:a16="http://schemas.microsoft.com/office/drawing/2014/main" id="{4278B495-C8BD-965B-5E8E-BD9B396D23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2D5482-EFF8-0995-07DC-AC770CD52E77}"/>
              </a:ext>
            </a:extLst>
          </p:cNvPr>
          <p:cNvSpPr>
            <a:spLocks noGrp="1"/>
          </p:cNvSpPr>
          <p:nvPr>
            <p:ph type="sldNum" sz="quarter" idx="12"/>
          </p:nvPr>
        </p:nvSpPr>
        <p:spPr/>
        <p:txBody>
          <a:bodyPr/>
          <a:lstStyle/>
          <a:p>
            <a:fld id="{2E44EB53-FDE8-4494-9521-ADD8AFCB1469}" type="slidenum">
              <a:rPr lang="en-US" smtClean="0"/>
              <a:t>‹#›</a:t>
            </a:fld>
            <a:endParaRPr lang="en-US"/>
          </a:p>
        </p:txBody>
      </p:sp>
    </p:spTree>
    <p:extLst>
      <p:ext uri="{BB962C8B-B14F-4D97-AF65-F5344CB8AC3E}">
        <p14:creationId xmlns:p14="http://schemas.microsoft.com/office/powerpoint/2010/main" val="3759445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D1C72A-2AE6-292A-5827-BF96631D63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1B310E-6593-1F29-8B64-AD4120658F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7DEF4E-D4AC-F824-EDDD-48ACD927EF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66C70-8E8E-48A5-866F-C96CD74F6EF7}" type="datetimeFigureOut">
              <a:rPr lang="en-US" smtClean="0"/>
              <a:t>1/3/2026</a:t>
            </a:fld>
            <a:endParaRPr lang="en-US"/>
          </a:p>
        </p:txBody>
      </p:sp>
      <p:sp>
        <p:nvSpPr>
          <p:cNvPr id="5" name="Footer Placeholder 4">
            <a:extLst>
              <a:ext uri="{FF2B5EF4-FFF2-40B4-BE49-F238E27FC236}">
                <a16:creationId xmlns:a16="http://schemas.microsoft.com/office/drawing/2014/main" id="{E5C94449-FB7B-6AC9-513C-2B17FF7389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EE6D57-E834-E2CD-DD87-999204EBE4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44EB53-FDE8-4494-9521-ADD8AFCB1469}" type="slidenum">
              <a:rPr lang="en-US" smtClean="0"/>
              <a:t>‹#›</a:t>
            </a:fld>
            <a:endParaRPr lang="en-US"/>
          </a:p>
        </p:txBody>
      </p:sp>
    </p:spTree>
    <p:extLst>
      <p:ext uri="{BB962C8B-B14F-4D97-AF65-F5344CB8AC3E}">
        <p14:creationId xmlns:p14="http://schemas.microsoft.com/office/powerpoint/2010/main" val="3136813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2ABE4-467E-912C-25D5-67D03677684D}"/>
              </a:ext>
            </a:extLst>
          </p:cNvPr>
          <p:cNvSpPr>
            <a:spLocks noGrp="1"/>
          </p:cNvSpPr>
          <p:nvPr>
            <p:ph type="title"/>
          </p:nvPr>
        </p:nvSpPr>
        <p:spPr/>
        <p:txBody>
          <a:bodyPr/>
          <a:lstStyle/>
          <a:p>
            <a:r>
              <a:rPr lang="fr-FR" dirty="0"/>
              <a:t>1. Lecture et compréhension de la base </a:t>
            </a:r>
            <a:endParaRPr lang="en-US" dirty="0"/>
          </a:p>
        </p:txBody>
      </p:sp>
      <p:sp>
        <p:nvSpPr>
          <p:cNvPr id="3" name="Content Placeholder 2">
            <a:extLst>
              <a:ext uri="{FF2B5EF4-FFF2-40B4-BE49-F238E27FC236}">
                <a16:creationId xmlns:a16="http://schemas.microsoft.com/office/drawing/2014/main" id="{DB5FE076-33F6-28A7-5963-312225B57EBB}"/>
              </a:ext>
            </a:extLst>
          </p:cNvPr>
          <p:cNvSpPr>
            <a:spLocks noGrp="1"/>
          </p:cNvSpPr>
          <p:nvPr>
            <p:ph idx="1"/>
          </p:nvPr>
        </p:nvSpPr>
        <p:spPr/>
        <p:txBody>
          <a:bodyPr>
            <a:normAutofit fontScale="85000" lnSpcReduction="10000"/>
          </a:bodyPr>
          <a:lstStyle/>
          <a:p>
            <a:r>
              <a:rPr lang="fr-FR" dirty="0"/>
              <a:t>Les données présente la cartographie de la pauvreté multidimensionnelle HCP, RGPH 2014 et 2024. </a:t>
            </a:r>
          </a:p>
          <a:p>
            <a:r>
              <a:rPr lang="fr-FR" dirty="0"/>
              <a:t>Elle contient des variables qualitatives et descriptif, telles que les collectivités territoriales, le code géographique, et le niveau d’agrégation géographique, qui peut prendre les valeurs suivantes : national, région, province, commune, préfecture d’arrondissement, cercle, et centre. La colonne Année prend quant à elle les valeurs 2014 et 2024.</a:t>
            </a:r>
          </a:p>
          <a:p>
            <a:r>
              <a:rPr lang="fr-FR" dirty="0"/>
              <a:t>Les variables quantitatives mesurent la pauvreté et ses composantes : MPI, taux de pauvreté (H), intensité de la pauvreté (A), taux de vulnérabilité, ainsi que des indicateurs de privation liés à la santé, à l’éducation, et aux conditions de vie. </a:t>
            </a:r>
          </a:p>
          <a:p>
            <a:r>
              <a:rPr lang="fr-FR" dirty="0"/>
              <a:t>Elles incluent également la décomposition de l’indice de pauvreté multidimensionnelle par source de privation, ainsi que la décomposition de la dynamique du MPI en 2014 et 2024 par source de privation.</a:t>
            </a:r>
            <a:endParaRPr lang="en-US" dirty="0"/>
          </a:p>
        </p:txBody>
      </p:sp>
    </p:spTree>
    <p:extLst>
      <p:ext uri="{BB962C8B-B14F-4D97-AF65-F5344CB8AC3E}">
        <p14:creationId xmlns:p14="http://schemas.microsoft.com/office/powerpoint/2010/main" val="2568897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C093C-ADC3-8A35-3AC2-BD9316FD623D}"/>
              </a:ext>
            </a:extLst>
          </p:cNvPr>
          <p:cNvSpPr>
            <a:spLocks noGrp="1"/>
          </p:cNvSpPr>
          <p:nvPr>
            <p:ph type="title"/>
          </p:nvPr>
        </p:nvSpPr>
        <p:spPr/>
        <p:txBody>
          <a:bodyPr/>
          <a:lstStyle/>
          <a:p>
            <a:r>
              <a:rPr lang="fr-FR" dirty="0"/>
              <a:t>Analyse du MPI, du taux H et de l’intensité A en 2024</a:t>
            </a:r>
            <a:endParaRPr lang="en-US" dirty="0"/>
          </a:p>
        </p:txBody>
      </p:sp>
      <p:pic>
        <p:nvPicPr>
          <p:cNvPr id="11" name="Picture 10">
            <a:extLst>
              <a:ext uri="{FF2B5EF4-FFF2-40B4-BE49-F238E27FC236}">
                <a16:creationId xmlns:a16="http://schemas.microsoft.com/office/drawing/2014/main" id="{61E214F6-D459-0A63-882B-74163F1E89B0}"/>
              </a:ext>
            </a:extLst>
          </p:cNvPr>
          <p:cNvPicPr>
            <a:picLocks noChangeAspect="1"/>
          </p:cNvPicPr>
          <p:nvPr/>
        </p:nvPicPr>
        <p:blipFill>
          <a:blip r:embed="rId2"/>
          <a:stretch>
            <a:fillRect/>
          </a:stretch>
        </p:blipFill>
        <p:spPr>
          <a:xfrm>
            <a:off x="2013734" y="1557124"/>
            <a:ext cx="8476181" cy="5123153"/>
          </a:xfrm>
          <a:prstGeom prst="rect">
            <a:avLst/>
          </a:prstGeom>
        </p:spPr>
      </p:pic>
    </p:spTree>
    <p:extLst>
      <p:ext uri="{BB962C8B-B14F-4D97-AF65-F5344CB8AC3E}">
        <p14:creationId xmlns:p14="http://schemas.microsoft.com/office/powerpoint/2010/main" val="1081218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B4253-99AC-4E5E-4147-00F6BD280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C4AAFB-5CD4-A007-6433-D755915217EB}"/>
              </a:ext>
            </a:extLst>
          </p:cNvPr>
          <p:cNvSpPr>
            <a:spLocks noGrp="1"/>
          </p:cNvSpPr>
          <p:nvPr>
            <p:ph type="title"/>
          </p:nvPr>
        </p:nvSpPr>
        <p:spPr/>
        <p:txBody>
          <a:bodyPr/>
          <a:lstStyle/>
          <a:p>
            <a:r>
              <a:rPr lang="fr-FR" dirty="0"/>
              <a:t>Analyse comparative 2014–2024, au niveau régional</a:t>
            </a:r>
            <a:endParaRPr lang="en-US" dirty="0"/>
          </a:p>
        </p:txBody>
      </p:sp>
      <p:pic>
        <p:nvPicPr>
          <p:cNvPr id="4" name="Picture 3">
            <a:extLst>
              <a:ext uri="{FF2B5EF4-FFF2-40B4-BE49-F238E27FC236}">
                <a16:creationId xmlns:a16="http://schemas.microsoft.com/office/drawing/2014/main" id="{E4319650-00C9-0907-6F32-90C17FA01B9A}"/>
              </a:ext>
            </a:extLst>
          </p:cNvPr>
          <p:cNvPicPr>
            <a:picLocks noChangeAspect="1"/>
          </p:cNvPicPr>
          <p:nvPr/>
        </p:nvPicPr>
        <p:blipFill>
          <a:blip r:embed="rId2"/>
          <a:stretch>
            <a:fillRect/>
          </a:stretch>
        </p:blipFill>
        <p:spPr>
          <a:xfrm>
            <a:off x="1678442" y="1690688"/>
            <a:ext cx="8640381" cy="4686954"/>
          </a:xfrm>
          <a:prstGeom prst="rect">
            <a:avLst/>
          </a:prstGeom>
        </p:spPr>
      </p:pic>
    </p:spTree>
    <p:extLst>
      <p:ext uri="{BB962C8B-B14F-4D97-AF65-F5344CB8AC3E}">
        <p14:creationId xmlns:p14="http://schemas.microsoft.com/office/powerpoint/2010/main" val="3676079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D8AD7-0B7B-220F-B04A-AC7A7ABBB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D4A3E-6FBE-365C-C957-69FEE5832970}"/>
              </a:ext>
            </a:extLst>
          </p:cNvPr>
          <p:cNvSpPr>
            <a:spLocks noGrp="1"/>
          </p:cNvSpPr>
          <p:nvPr>
            <p:ph type="title"/>
          </p:nvPr>
        </p:nvSpPr>
        <p:spPr>
          <a:xfrm>
            <a:off x="1066800" y="404019"/>
            <a:ext cx="10515600" cy="1325563"/>
          </a:xfrm>
        </p:spPr>
        <p:txBody>
          <a:bodyPr/>
          <a:lstStyle/>
          <a:p>
            <a:r>
              <a:rPr lang="fr-FR" dirty="0"/>
              <a:t>Analyse du MPI en 2024 au niveau provincial</a:t>
            </a:r>
            <a:endParaRPr lang="en-US" dirty="0"/>
          </a:p>
        </p:txBody>
      </p:sp>
      <p:pic>
        <p:nvPicPr>
          <p:cNvPr id="5" name="Picture 4">
            <a:extLst>
              <a:ext uri="{FF2B5EF4-FFF2-40B4-BE49-F238E27FC236}">
                <a16:creationId xmlns:a16="http://schemas.microsoft.com/office/drawing/2014/main" id="{A4354079-B58E-C8C3-2177-3F88C0FBEB18}"/>
              </a:ext>
            </a:extLst>
          </p:cNvPr>
          <p:cNvPicPr>
            <a:picLocks noChangeAspect="1"/>
          </p:cNvPicPr>
          <p:nvPr/>
        </p:nvPicPr>
        <p:blipFill>
          <a:blip r:embed="rId2"/>
          <a:stretch>
            <a:fillRect/>
          </a:stretch>
        </p:blipFill>
        <p:spPr>
          <a:xfrm>
            <a:off x="2314040" y="2290544"/>
            <a:ext cx="7563920" cy="3513355"/>
          </a:xfrm>
          <a:prstGeom prst="rect">
            <a:avLst/>
          </a:prstGeom>
        </p:spPr>
      </p:pic>
    </p:spTree>
    <p:extLst>
      <p:ext uri="{BB962C8B-B14F-4D97-AF65-F5344CB8AC3E}">
        <p14:creationId xmlns:p14="http://schemas.microsoft.com/office/powerpoint/2010/main" val="2755250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CBA65-00D6-6ACD-3B98-FB959FA79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94D89-E0A6-4C79-36D8-B42C525D191D}"/>
              </a:ext>
            </a:extLst>
          </p:cNvPr>
          <p:cNvSpPr>
            <a:spLocks noGrp="1"/>
          </p:cNvSpPr>
          <p:nvPr>
            <p:ph type="title"/>
          </p:nvPr>
        </p:nvSpPr>
        <p:spPr>
          <a:xfrm>
            <a:off x="838200" y="123124"/>
            <a:ext cx="10515600" cy="1325563"/>
          </a:xfrm>
        </p:spPr>
        <p:txBody>
          <a:bodyPr/>
          <a:lstStyle/>
          <a:p>
            <a:r>
              <a:rPr lang="fr-FR" dirty="0"/>
              <a:t>Analyse du MPI en 2024 au niveau provincial</a:t>
            </a:r>
            <a:endParaRPr lang="en-US" dirty="0"/>
          </a:p>
        </p:txBody>
      </p:sp>
      <p:pic>
        <p:nvPicPr>
          <p:cNvPr id="4" name="Picture 3">
            <a:extLst>
              <a:ext uri="{FF2B5EF4-FFF2-40B4-BE49-F238E27FC236}">
                <a16:creationId xmlns:a16="http://schemas.microsoft.com/office/drawing/2014/main" id="{BDA4846B-303A-FFA9-8B81-55AFD21AA54D}"/>
              </a:ext>
            </a:extLst>
          </p:cNvPr>
          <p:cNvPicPr>
            <a:picLocks noChangeAspect="1"/>
          </p:cNvPicPr>
          <p:nvPr/>
        </p:nvPicPr>
        <p:blipFill>
          <a:blip r:embed="rId2"/>
          <a:stretch>
            <a:fillRect/>
          </a:stretch>
        </p:blipFill>
        <p:spPr>
          <a:xfrm>
            <a:off x="2042852" y="1448687"/>
            <a:ext cx="8106295" cy="5020376"/>
          </a:xfrm>
          <a:prstGeom prst="rect">
            <a:avLst/>
          </a:prstGeom>
        </p:spPr>
      </p:pic>
    </p:spTree>
    <p:extLst>
      <p:ext uri="{BB962C8B-B14F-4D97-AF65-F5344CB8AC3E}">
        <p14:creationId xmlns:p14="http://schemas.microsoft.com/office/powerpoint/2010/main" val="1051608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4EF0B-DB43-11CF-4EB6-8AA997F9C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5BF1E-F996-1711-0A41-BE3762793856}"/>
              </a:ext>
            </a:extLst>
          </p:cNvPr>
          <p:cNvSpPr>
            <a:spLocks noGrp="1"/>
          </p:cNvSpPr>
          <p:nvPr>
            <p:ph type="title"/>
          </p:nvPr>
        </p:nvSpPr>
        <p:spPr>
          <a:xfrm>
            <a:off x="1694822" y="33441"/>
            <a:ext cx="6085114" cy="695119"/>
          </a:xfrm>
        </p:spPr>
        <p:txBody>
          <a:bodyPr>
            <a:normAutofit/>
          </a:bodyPr>
          <a:lstStyle/>
          <a:p>
            <a:r>
              <a:rPr lang="fr-FR" sz="2400" dirty="0"/>
              <a:t>Analyse croisée des indicateurs de privation</a:t>
            </a:r>
            <a:endParaRPr lang="en-US" sz="2400" dirty="0"/>
          </a:p>
        </p:txBody>
      </p:sp>
      <p:pic>
        <p:nvPicPr>
          <p:cNvPr id="5" name="Picture 4">
            <a:extLst>
              <a:ext uri="{FF2B5EF4-FFF2-40B4-BE49-F238E27FC236}">
                <a16:creationId xmlns:a16="http://schemas.microsoft.com/office/drawing/2014/main" id="{4CE12E60-D29F-BEBF-79DB-C032A72A4584}"/>
              </a:ext>
            </a:extLst>
          </p:cNvPr>
          <p:cNvPicPr>
            <a:picLocks noChangeAspect="1"/>
          </p:cNvPicPr>
          <p:nvPr/>
        </p:nvPicPr>
        <p:blipFill>
          <a:blip r:embed="rId2"/>
          <a:srcRect b="10585"/>
          <a:stretch>
            <a:fillRect/>
          </a:stretch>
        </p:blipFill>
        <p:spPr>
          <a:xfrm>
            <a:off x="1637664" y="521588"/>
            <a:ext cx="9107171" cy="2907412"/>
          </a:xfrm>
          <a:prstGeom prst="rect">
            <a:avLst/>
          </a:prstGeom>
        </p:spPr>
      </p:pic>
      <p:pic>
        <p:nvPicPr>
          <p:cNvPr id="7" name="Picture 6">
            <a:extLst>
              <a:ext uri="{FF2B5EF4-FFF2-40B4-BE49-F238E27FC236}">
                <a16:creationId xmlns:a16="http://schemas.microsoft.com/office/drawing/2014/main" id="{45A1BB0A-2C6F-842C-53DF-F2701B5FE077}"/>
              </a:ext>
            </a:extLst>
          </p:cNvPr>
          <p:cNvPicPr>
            <a:picLocks noChangeAspect="1"/>
          </p:cNvPicPr>
          <p:nvPr/>
        </p:nvPicPr>
        <p:blipFill>
          <a:blip r:embed="rId3"/>
          <a:stretch>
            <a:fillRect/>
          </a:stretch>
        </p:blipFill>
        <p:spPr>
          <a:xfrm>
            <a:off x="1694822" y="3429000"/>
            <a:ext cx="9050013" cy="3167742"/>
          </a:xfrm>
          <a:prstGeom prst="rect">
            <a:avLst/>
          </a:prstGeom>
        </p:spPr>
      </p:pic>
    </p:spTree>
    <p:extLst>
      <p:ext uri="{BB962C8B-B14F-4D97-AF65-F5344CB8AC3E}">
        <p14:creationId xmlns:p14="http://schemas.microsoft.com/office/powerpoint/2010/main" val="955520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283D8-0B0C-22A7-AC05-49C0B4417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04386-68C2-05A8-E904-2FC24CE398B0}"/>
              </a:ext>
            </a:extLst>
          </p:cNvPr>
          <p:cNvSpPr>
            <a:spLocks noGrp="1"/>
          </p:cNvSpPr>
          <p:nvPr>
            <p:ph type="title"/>
          </p:nvPr>
        </p:nvSpPr>
        <p:spPr>
          <a:xfrm>
            <a:off x="1143000" y="110424"/>
            <a:ext cx="10096500" cy="1325563"/>
          </a:xfrm>
        </p:spPr>
        <p:txBody>
          <a:bodyPr/>
          <a:lstStyle/>
          <a:p>
            <a:r>
              <a:rPr lang="fr-FR" dirty="0"/>
              <a:t>Analyse plus synthétique visant à dégager des profils territoriaux</a:t>
            </a:r>
            <a:endParaRPr lang="en-US" dirty="0"/>
          </a:p>
        </p:txBody>
      </p:sp>
      <p:pic>
        <p:nvPicPr>
          <p:cNvPr id="4" name="Picture 3">
            <a:extLst>
              <a:ext uri="{FF2B5EF4-FFF2-40B4-BE49-F238E27FC236}">
                <a16:creationId xmlns:a16="http://schemas.microsoft.com/office/drawing/2014/main" id="{BA4DDD36-EEFC-7A1A-ED22-EC6E0A89F4EB}"/>
              </a:ext>
            </a:extLst>
          </p:cNvPr>
          <p:cNvPicPr>
            <a:picLocks noChangeAspect="1"/>
          </p:cNvPicPr>
          <p:nvPr/>
        </p:nvPicPr>
        <p:blipFill>
          <a:blip r:embed="rId2"/>
          <a:stretch>
            <a:fillRect/>
          </a:stretch>
        </p:blipFill>
        <p:spPr>
          <a:xfrm>
            <a:off x="1143000" y="1232465"/>
            <a:ext cx="9831172" cy="4915586"/>
          </a:xfrm>
          <a:prstGeom prst="rect">
            <a:avLst/>
          </a:prstGeom>
        </p:spPr>
      </p:pic>
    </p:spTree>
    <p:extLst>
      <p:ext uri="{BB962C8B-B14F-4D97-AF65-F5344CB8AC3E}">
        <p14:creationId xmlns:p14="http://schemas.microsoft.com/office/powerpoint/2010/main" val="3224726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B285A-6793-A308-03DF-D289F3422EBE}"/>
              </a:ext>
            </a:extLst>
          </p:cNvPr>
          <p:cNvSpPr>
            <a:spLocks noGrp="1"/>
          </p:cNvSpPr>
          <p:nvPr>
            <p:ph type="title"/>
          </p:nvPr>
        </p:nvSpPr>
        <p:spPr>
          <a:xfrm>
            <a:off x="838200" y="207820"/>
            <a:ext cx="10515600" cy="1325563"/>
          </a:xfrm>
        </p:spPr>
        <p:txBody>
          <a:bodyPr/>
          <a:lstStyle/>
          <a:p>
            <a:r>
              <a:rPr lang="en-US" dirty="0"/>
              <a:t>Tableau de board 1: </a:t>
            </a:r>
            <a:r>
              <a:rPr lang="en-US" dirty="0" err="1"/>
              <a:t>nationale</a:t>
            </a:r>
            <a:endParaRPr lang="en-US" dirty="0"/>
          </a:p>
        </p:txBody>
      </p:sp>
      <p:pic>
        <p:nvPicPr>
          <p:cNvPr id="5" name="Picture 4">
            <a:extLst>
              <a:ext uri="{FF2B5EF4-FFF2-40B4-BE49-F238E27FC236}">
                <a16:creationId xmlns:a16="http://schemas.microsoft.com/office/drawing/2014/main" id="{129CD525-D0DE-B14A-CED5-D12C16B4D585}"/>
              </a:ext>
            </a:extLst>
          </p:cNvPr>
          <p:cNvPicPr>
            <a:picLocks noChangeAspect="1"/>
          </p:cNvPicPr>
          <p:nvPr/>
        </p:nvPicPr>
        <p:blipFill>
          <a:blip r:embed="rId2"/>
          <a:stretch>
            <a:fillRect/>
          </a:stretch>
        </p:blipFill>
        <p:spPr>
          <a:xfrm>
            <a:off x="1166735" y="1533383"/>
            <a:ext cx="10187065" cy="4959492"/>
          </a:xfrm>
          <a:prstGeom prst="rect">
            <a:avLst/>
          </a:prstGeom>
        </p:spPr>
      </p:pic>
    </p:spTree>
    <p:extLst>
      <p:ext uri="{BB962C8B-B14F-4D97-AF65-F5344CB8AC3E}">
        <p14:creationId xmlns:p14="http://schemas.microsoft.com/office/powerpoint/2010/main" val="1085042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AB7E6-D876-7EF7-1475-C81E3EA01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C4F39-2B6E-384C-D162-4FD49F3B437B}"/>
              </a:ext>
            </a:extLst>
          </p:cNvPr>
          <p:cNvSpPr>
            <a:spLocks noGrp="1"/>
          </p:cNvSpPr>
          <p:nvPr>
            <p:ph type="title"/>
          </p:nvPr>
        </p:nvSpPr>
        <p:spPr>
          <a:xfrm>
            <a:off x="838200" y="0"/>
            <a:ext cx="10515600" cy="1325563"/>
          </a:xfrm>
        </p:spPr>
        <p:txBody>
          <a:bodyPr/>
          <a:lstStyle/>
          <a:p>
            <a:r>
              <a:rPr lang="en-US" dirty="0"/>
              <a:t>Tableau de board 1: </a:t>
            </a:r>
            <a:r>
              <a:rPr lang="en-US" dirty="0" err="1"/>
              <a:t>régionale</a:t>
            </a:r>
            <a:endParaRPr lang="en-US" dirty="0"/>
          </a:p>
        </p:txBody>
      </p:sp>
      <p:pic>
        <p:nvPicPr>
          <p:cNvPr id="6" name="Picture 5">
            <a:extLst>
              <a:ext uri="{FF2B5EF4-FFF2-40B4-BE49-F238E27FC236}">
                <a16:creationId xmlns:a16="http://schemas.microsoft.com/office/drawing/2014/main" id="{4E89A1E1-FC40-3159-DD41-EDE0FADE4E90}"/>
              </a:ext>
            </a:extLst>
          </p:cNvPr>
          <p:cNvPicPr>
            <a:picLocks noChangeAspect="1"/>
          </p:cNvPicPr>
          <p:nvPr/>
        </p:nvPicPr>
        <p:blipFill>
          <a:blip r:embed="rId2"/>
          <a:stretch>
            <a:fillRect/>
          </a:stretch>
        </p:blipFill>
        <p:spPr>
          <a:xfrm>
            <a:off x="838200" y="1225635"/>
            <a:ext cx="10898121" cy="5277587"/>
          </a:xfrm>
          <a:prstGeom prst="rect">
            <a:avLst/>
          </a:prstGeom>
        </p:spPr>
      </p:pic>
    </p:spTree>
    <p:extLst>
      <p:ext uri="{BB962C8B-B14F-4D97-AF65-F5344CB8AC3E}">
        <p14:creationId xmlns:p14="http://schemas.microsoft.com/office/powerpoint/2010/main" val="4166112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04BC0-F6A8-DD0A-F771-6E3299A764DC}"/>
              </a:ext>
            </a:extLst>
          </p:cNvPr>
          <p:cNvSpPr>
            <a:spLocks noGrp="1"/>
          </p:cNvSpPr>
          <p:nvPr>
            <p:ph type="title"/>
          </p:nvPr>
        </p:nvSpPr>
        <p:spPr/>
        <p:txBody>
          <a:bodyPr/>
          <a:lstStyle/>
          <a:p>
            <a:r>
              <a:rPr lang="en-US" dirty="0"/>
              <a:t>Dashboard 2: global</a:t>
            </a:r>
          </a:p>
        </p:txBody>
      </p:sp>
      <p:pic>
        <p:nvPicPr>
          <p:cNvPr id="5" name="Picture 4">
            <a:extLst>
              <a:ext uri="{FF2B5EF4-FFF2-40B4-BE49-F238E27FC236}">
                <a16:creationId xmlns:a16="http://schemas.microsoft.com/office/drawing/2014/main" id="{2A20AE1C-5EE2-1695-5FAE-29533D6DFBBF}"/>
              </a:ext>
            </a:extLst>
          </p:cNvPr>
          <p:cNvPicPr>
            <a:picLocks noChangeAspect="1"/>
          </p:cNvPicPr>
          <p:nvPr/>
        </p:nvPicPr>
        <p:blipFill>
          <a:blip r:embed="rId2"/>
          <a:stretch>
            <a:fillRect/>
          </a:stretch>
        </p:blipFill>
        <p:spPr>
          <a:xfrm>
            <a:off x="1661462" y="1690688"/>
            <a:ext cx="9137167" cy="4680857"/>
          </a:xfrm>
          <a:prstGeom prst="rect">
            <a:avLst/>
          </a:prstGeom>
        </p:spPr>
      </p:pic>
    </p:spTree>
    <p:extLst>
      <p:ext uri="{BB962C8B-B14F-4D97-AF65-F5344CB8AC3E}">
        <p14:creationId xmlns:p14="http://schemas.microsoft.com/office/powerpoint/2010/main" val="1976132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6C542-E0F0-5522-D5DB-26379261DFF4}"/>
              </a:ext>
            </a:extLst>
          </p:cNvPr>
          <p:cNvSpPr>
            <a:spLocks noGrp="1"/>
          </p:cNvSpPr>
          <p:nvPr>
            <p:ph type="title"/>
          </p:nvPr>
        </p:nvSpPr>
        <p:spPr>
          <a:xfrm>
            <a:off x="838200" y="217714"/>
            <a:ext cx="10515600" cy="1325563"/>
          </a:xfrm>
        </p:spPr>
        <p:txBody>
          <a:bodyPr/>
          <a:lstStyle/>
          <a:p>
            <a:r>
              <a:rPr lang="en-US" dirty="0"/>
              <a:t>Dashboard 2: territorial</a:t>
            </a:r>
          </a:p>
        </p:txBody>
      </p:sp>
      <p:pic>
        <p:nvPicPr>
          <p:cNvPr id="5" name="Picture 4">
            <a:extLst>
              <a:ext uri="{FF2B5EF4-FFF2-40B4-BE49-F238E27FC236}">
                <a16:creationId xmlns:a16="http://schemas.microsoft.com/office/drawing/2014/main" id="{3F861ED6-8EB8-30D0-29AB-C486948EC11C}"/>
              </a:ext>
            </a:extLst>
          </p:cNvPr>
          <p:cNvPicPr>
            <a:picLocks noChangeAspect="1"/>
          </p:cNvPicPr>
          <p:nvPr/>
        </p:nvPicPr>
        <p:blipFill>
          <a:blip r:embed="rId2"/>
          <a:stretch>
            <a:fillRect/>
          </a:stretch>
        </p:blipFill>
        <p:spPr>
          <a:xfrm>
            <a:off x="1653990" y="1343647"/>
            <a:ext cx="9145276" cy="5296639"/>
          </a:xfrm>
          <a:prstGeom prst="rect">
            <a:avLst/>
          </a:prstGeom>
        </p:spPr>
      </p:pic>
    </p:spTree>
    <p:extLst>
      <p:ext uri="{BB962C8B-B14F-4D97-AF65-F5344CB8AC3E}">
        <p14:creationId xmlns:p14="http://schemas.microsoft.com/office/powerpoint/2010/main" val="3179322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667</TotalTime>
  <Words>237</Words>
  <Application>Microsoft Office PowerPoint</Application>
  <PresentationFormat>Widescreen</PresentationFormat>
  <Paragraphs>15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1. Lecture et compréhension de la base </vt:lpstr>
      <vt:lpstr>Analyse du MPI, du taux H et de l’intensité A en 2024</vt:lpstr>
      <vt:lpstr>Analyse comparative 2014–2024, au niveau régional</vt:lpstr>
      <vt:lpstr>Analyse du MPI en 2024 au niveau provincial</vt:lpstr>
      <vt:lpstr>Analyse du MPI en 2024 au niveau provincial</vt:lpstr>
      <vt:lpstr>Analyse croisée des indicateurs de privation</vt:lpstr>
      <vt:lpstr>Analyse plus synthétique visant à dégager des profils territoriaux</vt:lpstr>
      <vt:lpstr>Tableau de board 1: nationale</vt:lpstr>
      <vt:lpstr>Tableau de board 1: régionale</vt:lpstr>
      <vt:lpstr>Dashboard 2: global</vt:lpstr>
      <vt:lpstr>Dashboard 2: territorial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CHAIOURA Mohammed</dc:creator>
  <cp:lastModifiedBy>CHAIOURA Mohammed</cp:lastModifiedBy>
  <cp:revision>18</cp:revision>
  <dcterms:created xsi:type="dcterms:W3CDTF">2026-01-02T13:14:34Z</dcterms:created>
  <dcterms:modified xsi:type="dcterms:W3CDTF">2026-01-03T21:50:36Z</dcterms:modified>
</cp:coreProperties>
</file>